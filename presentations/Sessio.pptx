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8" r:id="rId15"/>
  </p:sldIdLst>
  <p:sldSz cx="18288000" cy="10287000"/>
  <p:notesSz cx="6858000" cy="9144000"/>
  <p:embeddedFontLst>
    <p:embeddedFont>
      <p:font typeface="Aileron" panose="020B0604020202020204" charset="0"/>
      <p:regular r:id="rId16"/>
    </p:embeddedFont>
    <p:embeddedFont>
      <p:font typeface="Aileron Bold" panose="020B060402020202020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68D2E4-24E9-4B60-9A42-FB8A7AB43DE0}" v="3" dt="2026-07-01T02:30:03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378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5114860"/>
            <a:ext cx="13303790" cy="270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6"/>
              </a:lnSpc>
            </a:pPr>
            <a:r>
              <a:rPr lang="en-US" sz="20266" b="1" spc="-74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Sessio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9200" y="3894644"/>
            <a:ext cx="5689197" cy="612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95"/>
              </a:lnSpc>
            </a:pPr>
            <a:r>
              <a:rPr lang="en-US" sz="4595" spc="-170">
                <a:solidFill>
                  <a:srgbClr val="FFFFFF">
                    <a:alpha val="36863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Strava for Study Sessions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645042"/>
            <a:ext cx="3490028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Presented by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15456" y="9041546"/>
            <a:ext cx="1243844" cy="78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sym typeface="Aileron"/>
              </a:rPr>
              <a:t>2026</a:t>
            </a:r>
            <a:endParaRPr lang="en-US"/>
          </a:p>
          <a:p>
            <a:pPr algn="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Aileron"/>
              <a:ea typeface="Aileron"/>
              <a:cs typeface="Ailero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897917" y="639445"/>
            <a:ext cx="3361383" cy="32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 err="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sessio.app</a:t>
            </a:r>
            <a:endParaRPr lang="en-US" sz="2000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pic>
        <p:nvPicPr>
          <p:cNvPr id="14" name="Picture 13" descr="TEAM COUNTRY FINANCIAL&#10;&#10;AI-generated content may be incorrect.">
            <a:extLst>
              <a:ext uri="{FF2B5EF4-FFF2-40B4-BE49-F238E27FC236}">
                <a16:creationId xmlns:a16="http://schemas.microsoft.com/office/drawing/2014/main" id="{0F651A92-F59B-FB1D-77D3-0B0D54F024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937" y="8058393"/>
            <a:ext cx="2927710" cy="19518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3943912" cy="811326"/>
            <a:chOff x="0" y="0"/>
            <a:chExt cx="1038726" cy="2136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726" cy="213682"/>
            </a:xfrm>
            <a:custGeom>
              <a:avLst/>
              <a:gdLst/>
              <a:ahLst/>
              <a:cxnLst/>
              <a:rect l="l" t="t" r="r" b="b"/>
              <a:pathLst>
                <a:path w="1038726" h="213682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Sessio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979123"/>
            <a:ext cx="7169754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The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15456" y="9041546"/>
            <a:ext cx="124384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041546"/>
            <a:ext cx="33613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sessio.app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385098"/>
            <a:ext cx="6546432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Students lose 3+ hours a day to distraction. Their effort is invisible, their study spots are guesswork, and the grind is lonely — three problems with no unified fix.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54558" y="2072640"/>
            <a:ext cx="1206583" cy="120658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54558" y="4394517"/>
            <a:ext cx="1206583" cy="120658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54558" y="6716395"/>
            <a:ext cx="1206583" cy="120658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847688" y="1979930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Invisible Effort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47688" y="4301808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Campus Guessing Game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47688" y="2561590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Hours vanish into studying with nothing to show for it — no record of what got done, no progress over time, and motivation fades fast.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47688" y="4883468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Is Grainger too crowded? Which spot actually helps me focus? Students have zero data to guide the decision.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47688" y="6623685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The Lonely Grind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47688" y="7205345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Deep work happens in isolation. Without accountability or community, showing up every single day is nearly impossible.</a:t>
            </a:r>
          </a:p>
        </p:txBody>
      </p:sp>
      <p:sp>
        <p:nvSpPr>
          <p:cNvPr id="25" name="Freeform 25"/>
          <p:cNvSpPr/>
          <p:nvPr/>
        </p:nvSpPr>
        <p:spPr>
          <a:xfrm>
            <a:off x="9644243" y="2402205"/>
            <a:ext cx="556731" cy="612404"/>
          </a:xfrm>
          <a:custGeom>
            <a:avLst/>
            <a:gdLst/>
            <a:ahLst/>
            <a:cxnLst/>
            <a:rect l="l" t="t" r="r" b="b"/>
            <a:pathLst>
              <a:path w="556731" h="612404">
                <a:moveTo>
                  <a:pt x="0" y="0"/>
                </a:moveTo>
                <a:lnTo>
                  <a:pt x="556731" y="0"/>
                </a:lnTo>
                <a:lnTo>
                  <a:pt x="556731" y="612404"/>
                </a:lnTo>
                <a:lnTo>
                  <a:pt x="0" y="612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672700" y="4673343"/>
            <a:ext cx="528274" cy="713884"/>
          </a:xfrm>
          <a:custGeom>
            <a:avLst/>
            <a:gdLst/>
            <a:ahLst/>
            <a:cxnLst/>
            <a:rect l="l" t="t" r="r" b="b"/>
            <a:pathLst>
              <a:path w="528274" h="713884">
                <a:moveTo>
                  <a:pt x="0" y="0"/>
                </a:moveTo>
                <a:lnTo>
                  <a:pt x="528274" y="0"/>
                </a:lnTo>
                <a:lnTo>
                  <a:pt x="528274" y="713884"/>
                </a:lnTo>
                <a:lnTo>
                  <a:pt x="0" y="713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9625193" y="7028326"/>
            <a:ext cx="665314" cy="609571"/>
          </a:xfrm>
          <a:custGeom>
            <a:avLst/>
            <a:gdLst/>
            <a:ahLst/>
            <a:cxnLst/>
            <a:rect l="l" t="t" r="r" b="b"/>
            <a:pathLst>
              <a:path w="665314" h="609571">
                <a:moveTo>
                  <a:pt x="0" y="0"/>
                </a:moveTo>
                <a:lnTo>
                  <a:pt x="665314" y="0"/>
                </a:lnTo>
                <a:lnTo>
                  <a:pt x="665314" y="609572"/>
                </a:lnTo>
                <a:lnTo>
                  <a:pt x="0" y="609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3943912" cy="811326"/>
            <a:chOff x="0" y="0"/>
            <a:chExt cx="1038726" cy="2136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726" cy="213682"/>
            </a:xfrm>
            <a:custGeom>
              <a:avLst/>
              <a:gdLst/>
              <a:ahLst/>
              <a:cxnLst/>
              <a:rect l="l" t="t" r="r" b="b"/>
              <a:pathLst>
                <a:path w="1038726" h="213682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Sessio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979123"/>
            <a:ext cx="9557355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Why Tools Fall Short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4725412"/>
            <a:ext cx="1061403" cy="106140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4725412"/>
            <a:ext cx="1061403" cy="106140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6818372"/>
            <a:ext cx="1061403" cy="106140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0" y="6818372"/>
            <a:ext cx="1061403" cy="106140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04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015456" y="9041546"/>
            <a:ext cx="1243844" cy="78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  <a:p>
            <a:pPr algn="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Aileron"/>
              <a:ea typeface="Aileron"/>
              <a:cs typeface="Aileron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28700" y="9041546"/>
            <a:ext cx="33613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sessio.app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76649" y="463270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Pomodoro Timers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91949" y="463270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Study Groups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76649" y="672566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Calendar Apps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91949" y="672566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Time-Lapse Apps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76649" y="521436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Track time in blocks — but no campus context, no social layer, and no history of what you actually accomplished.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91949" y="521436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Real accountability — but no measurement, no analytics, and painful to coordinate across everyone's schedule.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76649" y="730732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Schedule focus blocks — but never track the actual work, and offer no community or outcome data.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91949" y="730732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Record your screen — but drain your battery, raise privacy concerns, and give you nothing social to share.</a:t>
            </a:r>
          </a:p>
        </p:txBody>
      </p:sp>
      <p:pic>
        <p:nvPicPr>
          <p:cNvPr id="33" name="Picture 32" descr="Student Resources | Student Success ...">
            <a:extLst>
              <a:ext uri="{FF2B5EF4-FFF2-40B4-BE49-F238E27FC236}">
                <a16:creationId xmlns:a16="http://schemas.microsoft.com/office/drawing/2014/main" id="{9AEEE874-11B0-CA99-8EC2-B4A456EAA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9687" y="1032092"/>
            <a:ext cx="3967950" cy="2614715"/>
          </a:xfrm>
          <a:prstGeom prst="rect">
            <a:avLst/>
          </a:prstGeom>
        </p:spPr>
      </p:pic>
      <p:pic>
        <p:nvPicPr>
          <p:cNvPr id="36" name="Picture 35" descr="The University of Illinois continues to lead in making education more  affordable and accessible for all! Since its launch, the Day 1 Access  program has saved students more than $3.3 million by">
            <a:extLst>
              <a:ext uri="{FF2B5EF4-FFF2-40B4-BE49-F238E27FC236}">
                <a16:creationId xmlns:a16="http://schemas.microsoft.com/office/drawing/2014/main" id="{7324094B-3573-28D0-01D9-F92D890E3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0990" y="1032091"/>
            <a:ext cx="2709828" cy="25818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3943912" cy="811326"/>
            <a:chOff x="0" y="0"/>
            <a:chExt cx="1038726" cy="2136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726" cy="213682"/>
            </a:xfrm>
            <a:custGeom>
              <a:avLst/>
              <a:gdLst/>
              <a:ahLst/>
              <a:cxnLst/>
              <a:rect l="l" t="t" r="r" b="b"/>
              <a:pathLst>
                <a:path w="1038726" h="213682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Sessio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979123"/>
            <a:ext cx="7169754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Meet Sessio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15456" y="9041546"/>
            <a:ext cx="1243844" cy="78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  <a:p>
            <a:pPr algn="r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FFFFFF"/>
              </a:solidFill>
              <a:latin typeface="Aileron"/>
              <a:ea typeface="Aileron"/>
              <a:cs typeface="Ailero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9041546"/>
            <a:ext cx="33613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sessio.app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54558" y="2072640"/>
            <a:ext cx="1206583" cy="120658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54558" y="4394517"/>
            <a:ext cx="1206583" cy="120658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54558" y="6716395"/>
            <a:ext cx="1206583" cy="120658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847688" y="1979930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Intentional Sessions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47688" y="4301808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Campus Intelligence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47688" y="2561590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Set a goal, run a distraction-free timer, and log what you accomplished. Build a verifiable history of real deep work.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47688" y="4883468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 live heat map of UIUC spots with real building hours and per-spot analytics, so you learn exactly where you focus best.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47688" y="6623685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Social Accountability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47688" y="7205345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Form study squads, share sessions in a live feed, give gold stars, and climb friend leaderboards. Momentum, together.</a:t>
            </a:r>
          </a:p>
        </p:txBody>
      </p:sp>
      <p:sp>
        <p:nvSpPr>
          <p:cNvPr id="25" name="Freeform 25"/>
          <p:cNvSpPr/>
          <p:nvPr/>
        </p:nvSpPr>
        <p:spPr>
          <a:xfrm>
            <a:off x="9644243" y="2402205"/>
            <a:ext cx="556731" cy="612404"/>
          </a:xfrm>
          <a:custGeom>
            <a:avLst/>
            <a:gdLst/>
            <a:ahLst/>
            <a:cxnLst/>
            <a:rect l="l" t="t" r="r" b="b"/>
            <a:pathLst>
              <a:path w="556731" h="612404">
                <a:moveTo>
                  <a:pt x="0" y="0"/>
                </a:moveTo>
                <a:lnTo>
                  <a:pt x="556731" y="0"/>
                </a:lnTo>
                <a:lnTo>
                  <a:pt x="556731" y="612404"/>
                </a:lnTo>
                <a:lnTo>
                  <a:pt x="0" y="612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672700" y="4673343"/>
            <a:ext cx="528274" cy="713884"/>
          </a:xfrm>
          <a:custGeom>
            <a:avLst/>
            <a:gdLst/>
            <a:ahLst/>
            <a:cxnLst/>
            <a:rect l="l" t="t" r="r" b="b"/>
            <a:pathLst>
              <a:path w="528274" h="713884">
                <a:moveTo>
                  <a:pt x="0" y="0"/>
                </a:moveTo>
                <a:lnTo>
                  <a:pt x="528274" y="0"/>
                </a:lnTo>
                <a:lnTo>
                  <a:pt x="528274" y="713884"/>
                </a:lnTo>
                <a:lnTo>
                  <a:pt x="0" y="713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9625193" y="7028326"/>
            <a:ext cx="665314" cy="609571"/>
          </a:xfrm>
          <a:custGeom>
            <a:avLst/>
            <a:gdLst/>
            <a:ahLst/>
            <a:cxnLst/>
            <a:rect l="l" t="t" r="r" b="b"/>
            <a:pathLst>
              <a:path w="665314" h="609571">
                <a:moveTo>
                  <a:pt x="0" y="0"/>
                </a:moveTo>
                <a:lnTo>
                  <a:pt x="665314" y="0"/>
                </a:lnTo>
                <a:lnTo>
                  <a:pt x="665314" y="609572"/>
                </a:lnTo>
                <a:lnTo>
                  <a:pt x="0" y="609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8" name="Picture 27" descr="The image is a web page layout for a study app, featuring a map-based focus system, analytics, and gamification elements.&#10;&#10;AI-generated content may be incorrect.">
            <a:extLst>
              <a:ext uri="{FF2B5EF4-FFF2-40B4-BE49-F238E27FC236}">
                <a16:creationId xmlns:a16="http://schemas.microsoft.com/office/drawing/2014/main" id="{B553E066-EA0C-B3AF-7A07-83BAA0293B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463" y="4673343"/>
            <a:ext cx="6662786" cy="35766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3943912" cy="811326"/>
            <a:chOff x="0" y="0"/>
            <a:chExt cx="1038726" cy="2136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726" cy="213682"/>
            </a:xfrm>
            <a:custGeom>
              <a:avLst/>
              <a:gdLst/>
              <a:ahLst/>
              <a:cxnLst/>
              <a:rect l="l" t="t" r="r" b="b"/>
              <a:pathLst>
                <a:path w="1038726" h="213682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Sessio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979123"/>
            <a:ext cx="9557355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How It Works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4725412"/>
            <a:ext cx="1061403" cy="106140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4725412"/>
            <a:ext cx="1061403" cy="106140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6818372"/>
            <a:ext cx="1061403" cy="106140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0" y="6818372"/>
            <a:ext cx="1061403" cy="106140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04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015456" y="9041546"/>
            <a:ext cx="124384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9041546"/>
            <a:ext cx="33613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sessio.app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76649" y="463270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Open the App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91949" y="463270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Deep Focus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76649" y="672566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Start a Session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91949" y="672566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Log the Win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76649" y="521436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8:00 AM — Sarah sees her 12-day streak, 8h 45m this week, and a suggested spot: Grainger L2 at an 85% goal  completion rate.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91949" y="521436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8:06–9:06 AM — the progress ring fills, notifications stay silenced, and Sarah holds an hour of uninterrupted flow.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76649" y="730732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8:05 AM — CS 225 MP3, a 60-minute target at Grainger Library, distraction-free mode on, shared with her CS Grind Squad.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91949" y="730732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9:06 AM — goal complete, an AI summary posts to the feed, her streak hits 13 days, and friends drop three gold stars.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3943912" cy="811326"/>
            <a:chOff x="0" y="0"/>
            <a:chExt cx="1038726" cy="2136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726" cy="213682"/>
            </a:xfrm>
            <a:custGeom>
              <a:avLst/>
              <a:gdLst/>
              <a:ahLst/>
              <a:cxnLst/>
              <a:rect l="l" t="t" r="r" b="b"/>
              <a:pathLst>
                <a:path w="1038726" h="213682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Sessio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979123"/>
            <a:ext cx="7169754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Key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15456" y="9041546"/>
            <a:ext cx="124384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041546"/>
            <a:ext cx="33613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sessio.app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385098"/>
            <a:ext cx="6546432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Three features turn intention into habit: a Strava-style analytics dashboard, a live campus heat map, and a social feed that keeps you accountable.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54558" y="2072640"/>
            <a:ext cx="1206583" cy="120658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54558" y="4394517"/>
            <a:ext cx="1206583" cy="120658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54558" y="6716395"/>
            <a:ext cx="1206583" cy="120658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847688" y="1979930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Analytics Dashboard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47688" y="4301808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Campus Heat Map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47688" y="2561590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 weekly focus chart, KPI cards with week-over-week deltas, a streak tracker, and goal-completion trends. Watch progress compound.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47688" y="4883468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100+ real UIUC buildings color-coded by recent activity, with per-spot goal rates and a smart pick for your best spot.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47688" y="6623685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Social Feed &amp; Squads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47688" y="7205345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 live feed of friends' sessions, gold-star encouragement, and weekly leaderboards scoped to the people you actually know.</a:t>
            </a:r>
          </a:p>
        </p:txBody>
      </p:sp>
      <p:sp>
        <p:nvSpPr>
          <p:cNvPr id="25" name="Freeform 25"/>
          <p:cNvSpPr/>
          <p:nvPr/>
        </p:nvSpPr>
        <p:spPr>
          <a:xfrm>
            <a:off x="9644243" y="2402205"/>
            <a:ext cx="556731" cy="612404"/>
          </a:xfrm>
          <a:custGeom>
            <a:avLst/>
            <a:gdLst/>
            <a:ahLst/>
            <a:cxnLst/>
            <a:rect l="l" t="t" r="r" b="b"/>
            <a:pathLst>
              <a:path w="556731" h="612404">
                <a:moveTo>
                  <a:pt x="0" y="0"/>
                </a:moveTo>
                <a:lnTo>
                  <a:pt x="556731" y="0"/>
                </a:lnTo>
                <a:lnTo>
                  <a:pt x="556731" y="612404"/>
                </a:lnTo>
                <a:lnTo>
                  <a:pt x="0" y="612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672700" y="4673343"/>
            <a:ext cx="528274" cy="713884"/>
          </a:xfrm>
          <a:custGeom>
            <a:avLst/>
            <a:gdLst/>
            <a:ahLst/>
            <a:cxnLst/>
            <a:rect l="l" t="t" r="r" b="b"/>
            <a:pathLst>
              <a:path w="528274" h="713884">
                <a:moveTo>
                  <a:pt x="0" y="0"/>
                </a:moveTo>
                <a:lnTo>
                  <a:pt x="528274" y="0"/>
                </a:lnTo>
                <a:lnTo>
                  <a:pt x="528274" y="713884"/>
                </a:lnTo>
                <a:lnTo>
                  <a:pt x="0" y="713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9625193" y="7028326"/>
            <a:ext cx="665314" cy="609571"/>
          </a:xfrm>
          <a:custGeom>
            <a:avLst/>
            <a:gdLst/>
            <a:ahLst/>
            <a:cxnLst/>
            <a:rect l="l" t="t" r="r" b="b"/>
            <a:pathLst>
              <a:path w="665314" h="609571">
                <a:moveTo>
                  <a:pt x="0" y="0"/>
                </a:moveTo>
                <a:lnTo>
                  <a:pt x="665314" y="0"/>
                </a:lnTo>
                <a:lnTo>
                  <a:pt x="665314" y="609572"/>
                </a:lnTo>
                <a:lnTo>
                  <a:pt x="0" y="609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8" name="Picture 27" descr="University of Illinois Alumni Association">
            <a:extLst>
              <a:ext uri="{FF2B5EF4-FFF2-40B4-BE49-F238E27FC236}">
                <a16:creationId xmlns:a16="http://schemas.microsoft.com/office/drawing/2014/main" id="{131EA13B-FD71-CB3A-619E-D3E06041B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005" y="5979678"/>
            <a:ext cx="4371563" cy="2710513"/>
          </a:xfrm>
          <a:prstGeom prst="rect">
            <a:avLst/>
          </a:prstGeom>
        </p:spPr>
      </p:pic>
      <p:pic>
        <p:nvPicPr>
          <p:cNvPr id="29" name="Picture 28" descr="University of Illinois Springfield">
            <a:extLst>
              <a:ext uri="{FF2B5EF4-FFF2-40B4-BE49-F238E27FC236}">
                <a16:creationId xmlns:a16="http://schemas.microsoft.com/office/drawing/2014/main" id="{095E71D5-6853-00D9-D641-01CD53DF58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874" y="5974127"/>
            <a:ext cx="2093103" cy="27216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3943912" cy="811326"/>
            <a:chOff x="0" y="0"/>
            <a:chExt cx="1038726" cy="2136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726" cy="213682"/>
            </a:xfrm>
            <a:custGeom>
              <a:avLst/>
              <a:gdLst/>
              <a:ahLst/>
              <a:cxnLst/>
              <a:rect l="l" t="t" r="r" b="b"/>
              <a:pathLst>
                <a:path w="1038726" h="213682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Sessio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979123"/>
            <a:ext cx="9557355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Built to Scale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4725412"/>
            <a:ext cx="1061403" cy="106140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4725412"/>
            <a:ext cx="1061403" cy="106140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6818372"/>
            <a:ext cx="1061403" cy="106140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0" y="6818372"/>
            <a:ext cx="1061403" cy="106140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04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015456" y="9041546"/>
            <a:ext cx="124384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9041546"/>
            <a:ext cx="33613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sessio.app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76649" y="463270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Row-Level Security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91949" y="463270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Real-Time, No Polling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76649" y="672566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AI With Fallback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91949" y="672566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Real Campus Data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76649" y="521436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Every Postgres table is guarded by RLS — users only ever see sessions they own or are explicitly allowed to view.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91949" y="521436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Supabase Realtime over true WebSockets — gold stars and leaderboards update instantly across every connected client.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76649" y="730732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OpenAI writes session summaries from goals and notes, and falls back to a local template if the API is down.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91949" y="730732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err="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Vendored</a:t>
            </a: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IlliniSpots</a:t>
            </a: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data: 100+ UIUC buildings with coordinates and hours, seeded with one import command.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3943912" cy="811326"/>
            <a:chOff x="0" y="0"/>
            <a:chExt cx="1038726" cy="2136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726" cy="213682"/>
            </a:xfrm>
            <a:custGeom>
              <a:avLst/>
              <a:gdLst/>
              <a:ahLst/>
              <a:cxnLst/>
              <a:rect l="l" t="t" r="r" b="b"/>
              <a:pathLst>
                <a:path w="1038726" h="213682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Sessio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979123"/>
            <a:ext cx="9557355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From UIUC Outward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4725412"/>
            <a:ext cx="1061403" cy="106140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4725412"/>
            <a:ext cx="1061403" cy="106140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6818372"/>
            <a:ext cx="1061403" cy="106140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0" y="6818372"/>
            <a:ext cx="1061403" cy="106140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04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015456" y="9041546"/>
            <a:ext cx="124384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9041546"/>
            <a:ext cx="33613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sessio.app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76649" y="463270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Phase 1 · Now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91949" y="463270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Phase 3 · 12–24 mo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76649" y="672566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Phase 2 · 6–12 mo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91949" y="672566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Phase 4 · 24 mo+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76649" y="521436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UIUC launch across 40,000+ students, starting with Research Park and CS courses. Target: 1,000 active this semester.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91949" y="521436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Roll out to the top 50 universities with user-created spots and a campus partner API. Target: 100,000+ users.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76649" y="730732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Expand to Big Ten schools — Michigan, Purdue, Wisconsin — with localized spot data. Target: 10,000 users.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91949" y="730732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Beyond students — remote workers, researchers, and distributed teams. Deep work as a service.</a:t>
            </a:r>
          </a:p>
        </p:txBody>
      </p:sp>
      <p:pic>
        <p:nvPicPr>
          <p:cNvPr id="19" name="Picture 18" descr="University of Illinois Urbana-Champaign - Niche">
            <a:extLst>
              <a:ext uri="{FF2B5EF4-FFF2-40B4-BE49-F238E27FC236}">
                <a16:creationId xmlns:a16="http://schemas.microsoft.com/office/drawing/2014/main" id="{05CDDC1A-27D6-F5FB-D124-4AE58D582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5956" y="1841622"/>
            <a:ext cx="6422230" cy="2040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3943912" cy="811326"/>
            <a:chOff x="0" y="0"/>
            <a:chExt cx="1038726" cy="2136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726" cy="213682"/>
            </a:xfrm>
            <a:custGeom>
              <a:avLst/>
              <a:gdLst/>
              <a:ahLst/>
              <a:cxnLst/>
              <a:rect l="l" t="t" r="r" b="b"/>
              <a:pathLst>
                <a:path w="1038726" h="213682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Sessio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979123"/>
            <a:ext cx="7169754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The Roadmap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15456" y="9041546"/>
            <a:ext cx="124384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041546"/>
            <a:ext cx="33613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sessio.app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385098"/>
            <a:ext cx="6546432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We're shipping in waves, each unlocking the next growth lever — from a focused beta to native apps and a multi-campus launch.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354558" y="2072640"/>
            <a:ext cx="1206583" cy="120658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54558" y="4394517"/>
            <a:ext cx="1206583" cy="120658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54558" y="6716395"/>
            <a:ext cx="1206583" cy="120658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847688" y="1979930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Plans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47688" y="4301808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3 Months Later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47688" y="2561590"/>
            <a:ext cx="5789690" cy="68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Beta with 50 students, smoother onboarding, and social media marketing.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47688" y="4883468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Squad challenges, a built-in Pomodoro mode, Spotify focus music, calendar sync, and badges for major milestones.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47688" y="6623685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Next 6 Months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47688" y="7205345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Native iOS and Android apps, AI that predicts your best study times, Canvas and Moodle integration, and 3–5 new campuses.</a:t>
            </a:r>
          </a:p>
        </p:txBody>
      </p:sp>
      <p:sp>
        <p:nvSpPr>
          <p:cNvPr id="25" name="Freeform 25"/>
          <p:cNvSpPr/>
          <p:nvPr/>
        </p:nvSpPr>
        <p:spPr>
          <a:xfrm>
            <a:off x="9644243" y="2402205"/>
            <a:ext cx="556731" cy="612404"/>
          </a:xfrm>
          <a:custGeom>
            <a:avLst/>
            <a:gdLst/>
            <a:ahLst/>
            <a:cxnLst/>
            <a:rect l="l" t="t" r="r" b="b"/>
            <a:pathLst>
              <a:path w="556731" h="612404">
                <a:moveTo>
                  <a:pt x="0" y="0"/>
                </a:moveTo>
                <a:lnTo>
                  <a:pt x="556731" y="0"/>
                </a:lnTo>
                <a:lnTo>
                  <a:pt x="556731" y="612404"/>
                </a:lnTo>
                <a:lnTo>
                  <a:pt x="0" y="612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9672700" y="4673343"/>
            <a:ext cx="528274" cy="713884"/>
          </a:xfrm>
          <a:custGeom>
            <a:avLst/>
            <a:gdLst/>
            <a:ahLst/>
            <a:cxnLst/>
            <a:rect l="l" t="t" r="r" b="b"/>
            <a:pathLst>
              <a:path w="528274" h="713884">
                <a:moveTo>
                  <a:pt x="0" y="0"/>
                </a:moveTo>
                <a:lnTo>
                  <a:pt x="528274" y="0"/>
                </a:lnTo>
                <a:lnTo>
                  <a:pt x="528274" y="713884"/>
                </a:lnTo>
                <a:lnTo>
                  <a:pt x="0" y="7138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9625193" y="7028326"/>
            <a:ext cx="665314" cy="609571"/>
          </a:xfrm>
          <a:custGeom>
            <a:avLst/>
            <a:gdLst/>
            <a:ahLst/>
            <a:cxnLst/>
            <a:rect l="l" t="t" r="r" b="b"/>
            <a:pathLst>
              <a:path w="665314" h="609571">
                <a:moveTo>
                  <a:pt x="0" y="0"/>
                </a:moveTo>
                <a:lnTo>
                  <a:pt x="665314" y="0"/>
                </a:lnTo>
                <a:lnTo>
                  <a:pt x="665314" y="609572"/>
                </a:lnTo>
                <a:lnTo>
                  <a:pt x="0" y="609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8" name="Graphic 27" descr="Map with pin outline">
            <a:extLst>
              <a:ext uri="{FF2B5EF4-FFF2-40B4-BE49-F238E27FC236}">
                <a16:creationId xmlns:a16="http://schemas.microsoft.com/office/drawing/2014/main" id="{87D9F826-AD12-80A6-B07C-A5BBFAE10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4855" y="4864894"/>
            <a:ext cx="4914899" cy="45309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3943912" cy="811326"/>
            <a:chOff x="0" y="0"/>
            <a:chExt cx="1038726" cy="2136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726" cy="213682"/>
            </a:xfrm>
            <a:custGeom>
              <a:avLst/>
              <a:gdLst/>
              <a:ahLst/>
              <a:cxnLst/>
              <a:rect l="l" t="t" r="r" b="b"/>
              <a:pathLst>
                <a:path w="1038726" h="213682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Sessio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979123"/>
            <a:ext cx="9557355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How We Compare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4725412"/>
            <a:ext cx="1061403" cy="106140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4725412"/>
            <a:ext cx="1061403" cy="106140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6818372"/>
            <a:ext cx="1061403" cy="106140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0" y="6818372"/>
            <a:ext cx="1061403" cy="1061403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04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015456" y="9041546"/>
            <a:ext cx="124384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9041546"/>
            <a:ext cx="33613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sessio.app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76649" y="463270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vs. Forest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91949" y="463270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vs. Focus@Will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76649" y="672566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vs. Study Together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91949" y="6725662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vs. RescueTime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76649" y="521436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Great for time-blocking — but no campus map, no analytics dashboard, and no social feed to keep you accountable.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91949" y="521436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Focus music only — no session tracking, no goals, no community, and no sense of place on campus.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76649" y="730732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Video co-working — but no goal logging, no spot analytics, and no progress history to build on.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91949" y="7307322"/>
            <a:ext cx="5789690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Passive productivity tracking — but no goals, no campus intelligence, and no social accountability.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583032"/>
            <a:ext cx="3943912" cy="811326"/>
            <a:chOff x="0" y="0"/>
            <a:chExt cx="1038726" cy="21368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8726" cy="213682"/>
            </a:xfrm>
            <a:custGeom>
              <a:avLst/>
              <a:gdLst/>
              <a:ahLst/>
              <a:cxnLst/>
              <a:rect l="l" t="t" r="r" b="b"/>
              <a:pathLst>
                <a:path w="1038726" h="213682">
                  <a:moveTo>
                    <a:pt x="106841" y="0"/>
                  </a:moveTo>
                  <a:lnTo>
                    <a:pt x="931884" y="0"/>
                  </a:lnTo>
                  <a:cubicBezTo>
                    <a:pt x="960221" y="0"/>
                    <a:pt x="987396" y="11256"/>
                    <a:pt x="1007433" y="31293"/>
                  </a:cubicBezTo>
                  <a:cubicBezTo>
                    <a:pt x="1027469" y="51330"/>
                    <a:pt x="1038726" y="78505"/>
                    <a:pt x="1038726" y="106841"/>
                  </a:cubicBezTo>
                  <a:lnTo>
                    <a:pt x="1038726" y="106841"/>
                  </a:lnTo>
                  <a:cubicBezTo>
                    <a:pt x="1038726" y="165848"/>
                    <a:pt x="990891" y="213682"/>
                    <a:pt x="931884" y="213682"/>
                  </a:cubicBezTo>
                  <a:lnTo>
                    <a:pt x="106841" y="213682"/>
                  </a:lnTo>
                  <a:cubicBezTo>
                    <a:pt x="78505" y="213682"/>
                    <a:pt x="51330" y="202426"/>
                    <a:pt x="31293" y="182389"/>
                  </a:cubicBezTo>
                  <a:cubicBezTo>
                    <a:pt x="11256" y="162353"/>
                    <a:pt x="0" y="135177"/>
                    <a:pt x="0" y="106841"/>
                  </a:cubicBezTo>
                  <a:lnTo>
                    <a:pt x="0" y="106841"/>
                  </a:lnTo>
                  <a:cubicBezTo>
                    <a:pt x="0" y="78505"/>
                    <a:pt x="11256" y="51330"/>
                    <a:pt x="31293" y="31293"/>
                  </a:cubicBezTo>
                  <a:cubicBezTo>
                    <a:pt x="51330" y="11256"/>
                    <a:pt x="78505" y="0"/>
                    <a:pt x="106841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38726" cy="26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Sessio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5114860"/>
            <a:ext cx="13303790" cy="270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6"/>
              </a:lnSpc>
            </a:pPr>
            <a:r>
              <a:rPr lang="en-US" sz="20266" b="1" spc="-74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Try Sessio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424241"/>
            <a:ext cx="5689197" cy="61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5"/>
              </a:lnSpc>
            </a:pPr>
            <a:r>
              <a:rPr lang="en-US" sz="4595" spc="-170">
                <a:solidFill>
                  <a:srgbClr val="FFFFFF">
                    <a:alpha val="36863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Built by students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15456" y="9041546"/>
            <a:ext cx="124384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97917" y="639445"/>
            <a:ext cx="336138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sessio.app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F7E9EEE7E8A647A8F20BCEBA947869" ma:contentTypeVersion="6" ma:contentTypeDescription="Create a new document." ma:contentTypeScope="" ma:versionID="a16de2a36e371313e3c81258e66a5b03">
  <xsd:schema xmlns:xsd="http://www.w3.org/2001/XMLSchema" xmlns:xs="http://www.w3.org/2001/XMLSchema" xmlns:p="http://schemas.microsoft.com/office/2006/metadata/properties" xmlns:ns3="19075dd3-545c-44b9-91fe-60aadb66f722" targetNamespace="http://schemas.microsoft.com/office/2006/metadata/properties" ma:root="true" ma:fieldsID="ab2841ca7035d363c3764db333edbec1" ns3:_="">
    <xsd:import namespace="19075dd3-545c-44b9-91fe-60aadb66f72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075dd3-545c-44b9-91fe-60aadb66f72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9075dd3-545c-44b9-91fe-60aadb66f722" xsi:nil="true"/>
  </documentManagement>
</p:properties>
</file>

<file path=customXml/itemProps1.xml><?xml version="1.0" encoding="utf-8"?>
<ds:datastoreItem xmlns:ds="http://schemas.openxmlformats.org/officeDocument/2006/customXml" ds:itemID="{77FB28C8-0E1D-4484-8ECE-5B3A43D095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A60198-DAB3-4E1C-B971-F754169A80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075dd3-545c-44b9-91fe-60aadb66f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6DC2598-D08F-4014-A6D4-EE24533BC926}">
  <ds:schemaRefs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metadata/properties"/>
    <ds:schemaRef ds:uri="19075dd3-545c-44b9-91fe-60aadb66f722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988</Words>
  <Application>Microsoft Office PowerPoint</Application>
  <PresentationFormat>Custom</PresentationFormat>
  <Paragraphs>133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Aileron</vt:lpstr>
      <vt:lpstr>Calibri</vt:lpstr>
      <vt:lpstr>Aileron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Business Pitch Deck Presentation</dc:title>
  <dc:creator>Will Blum</dc:creator>
  <cp:lastModifiedBy>Blum, Will</cp:lastModifiedBy>
  <cp:revision>4</cp:revision>
  <dcterms:created xsi:type="dcterms:W3CDTF">2006-08-16T00:00:00Z</dcterms:created>
  <dcterms:modified xsi:type="dcterms:W3CDTF">2026-07-01T02:32:14Z</dcterms:modified>
  <dc:identifier>DAHOGSz3q34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0x010100E6F7E9EEE7E8A647A8F20BCEBA947869</vt:lpwstr>
  </property>
</Properties>
</file>